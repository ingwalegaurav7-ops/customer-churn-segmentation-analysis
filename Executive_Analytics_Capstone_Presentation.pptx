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7324D"/>
                </a:solidFill>
              </a:defRPr>
            </a:pPr>
            <a:r>
              <a:t>CUSTOMER CHURN</a:t>
            </a:r>
          </a:p>
          <a:p>
            <a:pPr>
              <a:defRPr sz="2400">
                <a:solidFill>
                  <a:srgbClr val="1D647A"/>
                </a:solidFill>
              </a:defRPr>
            </a:pPr>
            <a:r>
              <a:t>Executive Analytics Capstone</a:t>
            </a:r>
          </a:p>
          <a:p>
            <a:pPr>
              <a:defRPr sz="1800">
                <a:solidFill>
                  <a:srgbClr val="2D3A45"/>
                </a:solidFill>
              </a:defRPr>
            </a:pPr>
            <a:r>
              <a:t>Decision question: which customers should the team contact first?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886200"/>
            <a:ext cx="2926080" cy="1325880"/>
          </a:xfrm>
          <a:prstGeom prst="roundRect">
            <a:avLst/>
          </a:prstGeom>
          <a:solidFill>
            <a:srgbClr val="EBF2F6"/>
          </a:solidFill>
          <a:ln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000" b="1">
                <a:solidFill>
                  <a:srgbClr val="17324D"/>
                </a:solidFill>
              </a:defRPr>
            </a:pPr>
            <a:r>
              <a:t>15</a:t>
            </a:r>
          </a:p>
          <a:p>
            <a:pPr algn="ctr">
              <a:defRPr sz="1200">
                <a:solidFill>
                  <a:srgbClr val="1D647A"/>
                </a:solidFill>
              </a:defRPr>
            </a:pPr>
            <a:r>
              <a:t>customers in sample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17720" y="3886200"/>
            <a:ext cx="2926080" cy="1325880"/>
          </a:xfrm>
          <a:prstGeom prst="roundRect">
            <a:avLst/>
          </a:prstGeom>
          <a:solidFill>
            <a:srgbClr val="EBF2F6"/>
          </a:solidFill>
          <a:ln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000" b="1">
                <a:solidFill>
                  <a:srgbClr val="17324D"/>
                </a:solidFill>
              </a:defRPr>
            </a:pPr>
            <a:r>
              <a:t>7</a:t>
            </a:r>
          </a:p>
          <a:p>
            <a:pPr algn="ctr">
              <a:defRPr sz="1200">
                <a:solidFill>
                  <a:srgbClr val="1D647A"/>
                </a:solidFill>
              </a:defRPr>
            </a:pPr>
            <a:r>
              <a:t>customers churned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3886200"/>
            <a:ext cx="2926080" cy="1325880"/>
          </a:xfrm>
          <a:prstGeom prst="roundRect">
            <a:avLst/>
          </a:prstGeom>
          <a:solidFill>
            <a:srgbClr val="EBF2F6"/>
          </a:solidFill>
          <a:ln>
            <a:solidFill>
              <a:srgbClr val="D0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000" b="1">
                <a:solidFill>
                  <a:srgbClr val="17324D"/>
                </a:solidFill>
              </a:defRPr>
            </a:pPr>
            <a:r>
              <a:t>46.7%</a:t>
            </a:r>
          </a:p>
          <a:p>
            <a:pPr algn="ctr">
              <a:defRPr sz="1200">
                <a:solidFill>
                  <a:srgbClr val="1D647A"/>
                </a:solidFill>
              </a:defRPr>
            </a:pPr>
            <a:r>
              <a:t>observed churn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7E"/>
                </a:solidFill>
              </a:defRPr>
            </a:pPr>
            <a:r>
              <a:t>Source: supplied fictional customer churn sample | Descriptive analysis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Decision in one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D647A"/>
                </a:solidFill>
              </a:defRPr>
            </a:pPr>
            <a:r>
              <a:t>Treat these patterns as pilot signals, not proof.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A45"/>
                </a:solidFill>
              </a:defRPr>
            </a:pPr>
            <a:r>
              <a:t>Prioritize proactive support for customers with 4+ tickets.</a:t>
            </a:r>
          </a:p>
          <a:p>
            <a:pPr>
              <a:spcAft>
                <a:spcPts val="1600"/>
              </a:spcAft>
              <a:defRPr sz="2200">
                <a:solidFill>
                  <a:srgbClr val="2D3A45"/>
                </a:solidFill>
              </a:defRPr>
            </a:pPr>
            <a:r>
              <a:t>Check in early with month-to-month customers during their first year.</a:t>
            </a:r>
          </a:p>
          <a:p>
            <a:pPr>
              <a:spcAft>
                <a:spcPts val="1600"/>
              </a:spcAft>
              <a:defRPr sz="2200">
                <a:solidFill>
                  <a:srgbClr val="2D3A45"/>
                </a:solidFill>
              </a:defRPr>
            </a:pPr>
            <a:r>
              <a:t>Measure outcomes against a comparison group before scaling.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7E"/>
                </a:solidFill>
              </a:defRPr>
            </a:pPr>
            <a:r>
              <a:t>Source: supplied fictional customer churn sample | Descriptive analysis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Five findings that could change the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2D3A45"/>
                </a:solidFill>
              </a:defRPr>
            </a:pPr>
            <a:r>
              <a:t>Overall: 7/15 customers churned (46.7%).</a:t>
            </a:r>
          </a:p>
          <a:p>
            <a:pPr>
              <a:spcAft>
                <a:spcPts val="1600"/>
              </a:spcAft>
              <a:defRPr sz="1700">
                <a:solidFill>
                  <a:srgbClr val="2D3A45"/>
                </a:solidFill>
              </a:defRPr>
            </a:pPr>
            <a:r>
              <a:t>Contract: 7/7 month-to-month customers churned; 0/8 annual/two-year customers churned.</a:t>
            </a:r>
          </a:p>
          <a:p>
            <a:pPr>
              <a:spcAft>
                <a:spcPts val="1600"/>
              </a:spcAft>
              <a:defRPr sz="1700">
                <a:solidFill>
                  <a:srgbClr val="2D3A45"/>
                </a:solidFill>
              </a:defRPr>
            </a:pPr>
            <a:r>
              <a:t>Support: 5/5 customers with 4+ tickets churned; 0/6 with 0–1 tickets churned.</a:t>
            </a:r>
          </a:p>
          <a:p>
            <a:pPr>
              <a:spcAft>
                <a:spcPts val="1600"/>
              </a:spcAft>
              <a:defRPr sz="1700">
                <a:solidFill>
                  <a:srgbClr val="2D3A45"/>
                </a:solidFill>
              </a:defRPr>
            </a:pPr>
            <a:r>
              <a:t>Tenure: 6/6 customers with ≤12 months tenure churned; 0/4 with 25+ months churned.</a:t>
            </a:r>
          </a:p>
          <a:p>
            <a:pPr>
              <a:spcAft>
                <a:spcPts val="1600"/>
              </a:spcAft>
              <a:defRPr sz="1700">
                <a:solidFill>
                  <a:srgbClr val="2D3A45"/>
                </a:solidFill>
              </a:defRPr>
            </a:pPr>
            <a:r>
              <a:t>Subscription: 5/7 Basic customers churned; 0/4 Enterprise customers churned.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7E"/>
                </a:solidFill>
              </a:defRPr>
            </a:pPr>
            <a:r>
              <a:t>Source: supplied fictional customer churn sample | Descriptive analysis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Recommended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D647A"/>
                </a:solidFill>
              </a:defRPr>
            </a:pPr>
            <a:r>
              <a:t>Small, reversible, and measurable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D3A45"/>
                </a:solidFill>
              </a:defRPr>
            </a:pPr>
            <a:r>
              <a:t>1. Review high-ticket cases and resolve recurring issues first.</a:t>
            </a:r>
          </a:p>
          <a:p>
            <a:pPr>
              <a:spcAft>
                <a:spcPts val="1600"/>
              </a:spcAft>
              <a:defRPr sz="1900">
                <a:solidFill>
                  <a:srgbClr val="2D3A45"/>
                </a:solidFill>
              </a:defRPr>
            </a:pPr>
            <a:r>
              <a:t>2. Contact newer month-to-month customers with onboarding/check-in support.</a:t>
            </a:r>
          </a:p>
          <a:p>
            <a:pPr>
              <a:spcAft>
                <a:spcPts val="1600"/>
              </a:spcAft>
              <a:defRPr sz="1900">
                <a:solidFill>
                  <a:srgbClr val="2D3A45"/>
                </a:solidFill>
              </a:defRPr>
            </a:pPr>
            <a:r>
              <a:t>3. Run a 3–6 week pilot; use a holdout/comparison group where practical.</a:t>
            </a:r>
          </a:p>
          <a:p>
            <a:pPr>
              <a:spcAft>
                <a:spcPts val="1600"/>
              </a:spcAft>
              <a:defRPr sz="1900">
                <a:solidFill>
                  <a:srgbClr val="2D3A45"/>
                </a:solidFill>
              </a:defRPr>
            </a:pPr>
            <a:r>
              <a:t>4. Track churn, issue resolution, repeat tickets, contact rate, and cost per retained customer.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7E"/>
                </a:solidFill>
              </a:defRPr>
            </a:pPr>
            <a:r>
              <a:t>Source: supplied fictional customer churn sample | Descriptive analysis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Expected impact: model scenarios, not promises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D3A45"/>
                </a:solidFill>
              </a:defRPr>
            </a:pPr>
            <a:r>
              <a:t>No intervention effect, margin, or customer lifetime value is provided; a rupee forecast would be unsupported.</a:t>
            </a:r>
          </a:p>
          <a:p>
            <a:pPr>
              <a:spcAft>
                <a:spcPts val="1600"/>
              </a:spcAft>
              <a:defRPr sz="1900">
                <a:solidFill>
                  <a:srgbClr val="2D3A45"/>
                </a:solidFill>
              </a:defRPr>
            </a:pPr>
            <a:r>
              <a:t>Illustration only: if 1 of 5 contacted high-ticket customers is retained, that is 1 additional retained customer in the pilot.</a:t>
            </a:r>
          </a:p>
          <a:p>
            <a:pPr>
              <a:spcAft>
                <a:spcPts val="1600"/>
              </a:spcAft>
              <a:defRPr sz="1900">
                <a:solidFill>
                  <a:srgbClr val="2D3A45"/>
                </a:solidFill>
              </a:defRPr>
            </a:pPr>
            <a:r>
              <a:t>If 2 of 5 are retained, that is 2; these are scenarios, not predictions.</a:t>
            </a:r>
          </a:p>
          <a:p>
            <a:pPr>
              <a:spcAft>
                <a:spcPts val="1600"/>
              </a:spcAft>
              <a:defRPr sz="1900">
                <a:solidFill>
                  <a:srgbClr val="2D3A45"/>
                </a:solidFill>
              </a:defRPr>
            </a:pPr>
            <a:r>
              <a:t>Scale only when measured retention benefit exceeds the intervention cost.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7E"/>
                </a:solidFill>
              </a:defRPr>
            </a:pPr>
            <a:r>
              <a:t>Source: supplied fictional customer churn sample | Descriptive analysis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Limitations and next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D3A45"/>
                </a:solidFill>
              </a:defRPr>
            </a:pPr>
            <a:r>
              <a:t>Only 15 synthetic records: rates can change sharply with one customer.</a:t>
            </a:r>
          </a:p>
          <a:p>
            <a:pPr>
              <a:spcAft>
                <a:spcPts val="1600"/>
              </a:spcAft>
              <a:defRPr sz="1900">
                <a:solidFill>
                  <a:srgbClr val="2D3A45"/>
                </a:solidFill>
              </a:defRPr>
            </a:pPr>
            <a:r>
              <a:t>Associations overlap; the data cannot establish causation.</a:t>
            </a:r>
          </a:p>
          <a:p>
            <a:pPr>
              <a:spcAft>
                <a:spcPts val="1600"/>
              </a:spcAft>
              <a:defRPr sz="1900">
                <a:solidFill>
                  <a:srgbClr val="2D3A45"/>
                </a:solidFill>
              </a:defRPr>
            </a:pPr>
            <a:r>
              <a:t>No timestamp, observation window, campaign cost, or customer value fields.</a:t>
            </a:r>
          </a:p>
          <a:p>
            <a:pPr>
              <a:spcAft>
                <a:spcPts val="1600"/>
              </a:spcAft>
              <a:defRPr sz="1900">
                <a:solidFill>
                  <a:srgbClr val="2D3A45"/>
                </a:solidFill>
              </a:defRPr>
            </a:pPr>
            <a:r>
              <a:t>Next: define follow-up window, compare contacted vs. control customers, and report churn difference plus cost.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7E"/>
                </a:solidFill>
              </a:defRPr>
            </a:pPr>
            <a:r>
              <a:t>Source: supplied fictional customer churn sample | Descriptive analysis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Close: authorize a pilot, not a full rollout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D3A45"/>
                </a:solidFill>
              </a:defRPr>
            </a:pPr>
            <a:r>
              <a:t>Audience: subscription / customer-success lead.</a:t>
            </a:r>
          </a:p>
          <a:p>
            <a:pPr>
              <a:spcAft>
                <a:spcPts val="1600"/>
              </a:spcAft>
              <a:defRPr sz="2000">
                <a:solidFill>
                  <a:srgbClr val="2D3A45"/>
                </a:solidFill>
              </a:defRPr>
            </a:pPr>
            <a:r>
              <a:t>Decision: approve a limited retention pilot for high-ticket and early-tenure month-to-month customers.</a:t>
            </a:r>
          </a:p>
          <a:p>
            <a:pPr>
              <a:spcAft>
                <a:spcPts val="1600"/>
              </a:spcAft>
              <a:defRPr sz="2000">
                <a:solidFill>
                  <a:srgbClr val="2D3A45"/>
                </a:solidFill>
              </a:defRPr>
            </a:pPr>
            <a:r>
              <a:t>Success: lower follow-up churn versus a comparison group, with acceptable cost.</a:t>
            </a:r>
          </a:p>
          <a:p>
            <a:pPr>
              <a:spcAft>
                <a:spcPts val="1600"/>
              </a:spcAft>
              <a:defRPr sz="2000">
                <a:solidFill>
                  <a:srgbClr val="2D3A45"/>
                </a:solidFill>
              </a:defRPr>
            </a:pPr>
            <a:r>
              <a:t>Confidence: low until validated on a larger, real customer dataset.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37E"/>
                </a:solidFill>
              </a:defRPr>
            </a:pPr>
            <a:r>
              <a:t>Source: supplied fictional customer churn sample | Descriptive analysis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